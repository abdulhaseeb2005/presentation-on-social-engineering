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8" r:id="rId5"/>
    <p:sldId id="309" r:id="rId6"/>
    <p:sldId id="264" r:id="rId7"/>
    <p:sldId id="262" r:id="rId8"/>
    <p:sldId id="291" r:id="rId9"/>
    <p:sldId id="268" r:id="rId10"/>
    <p:sldId id="286" r:id="rId11"/>
    <p:sldId id="292" r:id="rId12"/>
    <p:sldId id="294" r:id="rId13"/>
    <p:sldId id="296" r:id="rId14"/>
    <p:sldId id="298" r:id="rId15"/>
    <p:sldId id="297" r:id="rId16"/>
    <p:sldId id="300" r:id="rId17"/>
    <p:sldId id="301" r:id="rId18"/>
    <p:sldId id="304" r:id="rId19"/>
    <p:sldId id="303" r:id="rId20"/>
    <p:sldId id="302" r:id="rId21"/>
    <p:sldId id="305" r:id="rId22"/>
    <p:sldId id="306" r:id="rId23"/>
    <p:sldId id="311" r:id="rId24"/>
    <p:sldId id="310" r:id="rId25"/>
    <p:sldId id="323" r:id="rId26"/>
    <p:sldId id="324" r:id="rId27"/>
    <p:sldId id="325" r:id="rId28"/>
    <p:sldId id="322" r:id="rId29"/>
    <p:sldId id="312" r:id="rId30"/>
    <p:sldId id="315" r:id="rId31"/>
    <p:sldId id="313" r:id="rId32"/>
    <p:sldId id="314" r:id="rId33"/>
    <p:sldId id="316" r:id="rId34"/>
    <p:sldId id="317" r:id="rId35"/>
    <p:sldId id="318" r:id="rId36"/>
    <p:sldId id="319" r:id="rId37"/>
    <p:sldId id="320" r:id="rId38"/>
    <p:sldId id="32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Haseeb" userId="a510b75cb50e4427" providerId="LiveId" clId="{2DB66DBA-C2A9-455F-8620-E6F4F0E01A57}"/>
    <pc:docChg chg="custSel modSld">
      <pc:chgData name="Abdul Haseeb" userId="a510b75cb50e4427" providerId="LiveId" clId="{2DB66DBA-C2A9-455F-8620-E6F4F0E01A57}" dt="2026-10-14T17:27:25.062" v="0" actId="478"/>
      <pc:docMkLst>
        <pc:docMk/>
      </pc:docMkLst>
      <pc:sldChg chg="delSp mod">
        <pc:chgData name="Abdul Haseeb" userId="a510b75cb50e4427" providerId="LiveId" clId="{2DB66DBA-C2A9-455F-8620-E6F4F0E01A57}" dt="2026-10-14T17:27:25.062" v="0" actId="478"/>
        <pc:sldMkLst>
          <pc:docMk/>
          <pc:sldMk cId="333308661" sldId="310"/>
        </pc:sldMkLst>
        <pc:spChg chg="del">
          <ac:chgData name="Abdul Haseeb" userId="a510b75cb50e4427" providerId="LiveId" clId="{2DB66DBA-C2A9-455F-8620-E6F4F0E01A57}" dt="2026-10-14T17:27:25.062" v="0" actId="478"/>
          <ac:spMkLst>
            <pc:docMk/>
            <pc:sldMk cId="333308661" sldId="310"/>
            <ac:spMk id="3" creationId="{5ADAB69F-BA6B-95A1-46EF-D659EDAF65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What is Social Engineering?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What is Social Engineering | Community First Credit Union">
            <a:extLst>
              <a:ext uri="{FF2B5EF4-FFF2-40B4-BE49-F238E27FC236}">
                <a16:creationId xmlns:a16="http://schemas.microsoft.com/office/drawing/2014/main" id="{9185AA04-00B5-DBE8-8396-8FBF7433F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0E3151-C84F-1CBF-DBCC-ACD5ACF48371}"/>
              </a:ext>
            </a:extLst>
          </p:cNvPr>
          <p:cNvSpPr txBox="1"/>
          <p:nvPr/>
        </p:nvSpPr>
        <p:spPr>
          <a:xfrm>
            <a:off x="0" y="643407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: BILAL AHMED , HAMMAD AFZAL , ABDUL HASEEB , FAISAL ALI , MUHAMMAD USMAN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66EF-264D-ADB8-268E-0C2A68E1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137C-506B-FFFD-6BBA-17DA621F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engineering?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95B55-D82C-D19E-9694-EAAA8F78E8AF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Social Engineering Attack</a:t>
            </a:r>
            <a:endParaRPr lang="en-US" dirty="0"/>
          </a:p>
          <a:p>
            <a:r>
              <a:rPr lang="en-US" b="1" dirty="0"/>
              <a:t>Social Engineering</a:t>
            </a:r>
            <a:endParaRPr lang="en-US" dirty="0"/>
          </a:p>
          <a:p>
            <a:r>
              <a:rPr lang="en-US" b="1" dirty="0"/>
              <a:t>Phases of Attack</a:t>
            </a:r>
          </a:p>
          <a:p>
            <a:r>
              <a:rPr lang="en-US" b="1" dirty="0"/>
              <a:t>Types of Attack</a:t>
            </a:r>
          </a:p>
          <a:p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81CF-29C5-ABAA-DC19-980ADDFA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A3BD0D-605C-8D39-90CC-9FFBEED6600C}"/>
              </a:ext>
            </a:extLst>
          </p:cNvPr>
          <p:cNvSpPr txBox="1">
            <a:spLocks/>
          </p:cNvSpPr>
          <p:nvPr/>
        </p:nvSpPr>
        <p:spPr>
          <a:xfrm>
            <a:off x="4938712" y="5738353"/>
            <a:ext cx="6338888" cy="266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Presented by: Bilal Ahmed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60089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Social engineering attack?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“A social engineering attack is a continuous process that starts with initial research, which is the starting phase, until its completion, when the social engineer ends the conversation. The conversation is a brief coverage of the four phases that the social engineer follows to perform an attack.” (Patel &amp; R.S., 2013)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5"/>
            <a:ext cx="7606895" cy="941162"/>
          </a:xfrm>
        </p:spPr>
        <p:txBody>
          <a:bodyPr/>
          <a:lstStyle/>
          <a:p>
            <a:r>
              <a:rPr lang="en-US" dirty="0"/>
              <a:t>SOCIAL ENGINEERING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3953" y="1839687"/>
            <a:ext cx="7615274" cy="4397601"/>
          </a:xfrm>
        </p:spPr>
        <p:txBody>
          <a:bodyPr>
            <a:normAutofit/>
          </a:bodyPr>
          <a:lstStyle/>
          <a:p>
            <a:pPr marL="292093" indent="-292093" defTabSz="914377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Technology is not always needed for attacks on IT</a:t>
            </a:r>
          </a:p>
          <a:p>
            <a:pPr marL="292093" indent="-292093" defTabSz="914377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Social engineering gathers information by relying on the weaknesses of individuals</a:t>
            </a:r>
          </a:p>
          <a:p>
            <a:pPr marL="292093" indent="-292093" defTabSz="914377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It relies on the psychological approaches to persuade a victim</a:t>
            </a:r>
          </a:p>
          <a:p>
            <a:pPr marL="292093" indent="-292093" defTabSz="914377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3F8B4-940A-A2E6-FEF4-22357AD22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921" y="3352799"/>
            <a:ext cx="6880806" cy="32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Phases of 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3373686"/>
            <a:ext cx="6449785" cy="1029586"/>
          </a:xfrm>
        </p:spPr>
        <p:txBody>
          <a:bodyPr/>
          <a:lstStyle/>
          <a:p>
            <a:r>
              <a:rPr lang="en-US" dirty="0"/>
              <a:t>Basic four phases of attack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>
            <a:normAutofit/>
          </a:bodyPr>
          <a:lstStyle/>
          <a:p>
            <a:r>
              <a:rPr lang="en-US" dirty="0"/>
              <a:t>Phases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4" y="2258568"/>
            <a:ext cx="9389287" cy="3837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Research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Learn about target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 Hook </a:t>
            </a:r>
          </a:p>
          <a:p>
            <a:r>
              <a:rPr lang="en-US" sz="2800" dirty="0"/>
              <a:t>○ Initial conversation/Build Trust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Play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 Get Information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 Exit</a:t>
            </a:r>
          </a:p>
          <a:p>
            <a:r>
              <a:rPr lang="en-US" sz="2800" dirty="0"/>
              <a:t> ○ Leave without raising suspicion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1302803"/>
          </a:xfrm>
        </p:spPr>
        <p:txBody>
          <a:bodyPr>
            <a:normAutofit/>
          </a:bodyPr>
          <a:lstStyle/>
          <a:p>
            <a:r>
              <a:rPr lang="en-US" dirty="0"/>
              <a:t>Types of attack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2416630"/>
            <a:ext cx="2994660" cy="3848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HUMAN BASED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400" dirty="0"/>
              <a:t>● Piggybacking </a:t>
            </a:r>
          </a:p>
          <a:p>
            <a:pPr marL="0" indent="0">
              <a:buNone/>
            </a:pPr>
            <a:r>
              <a:rPr lang="en-US" sz="2400" dirty="0"/>
              <a:t>● Impersonating </a:t>
            </a:r>
          </a:p>
          <a:p>
            <a:pPr marL="0" indent="0">
              <a:buNone/>
            </a:pPr>
            <a:r>
              <a:rPr lang="en-US" sz="2400" dirty="0"/>
              <a:t>● Eavesdropping </a:t>
            </a:r>
          </a:p>
          <a:p>
            <a:pPr marL="0" indent="0">
              <a:buNone/>
            </a:pPr>
            <a:r>
              <a:rPr lang="en-US" sz="2400" dirty="0"/>
              <a:t>● Reverse social engineering </a:t>
            </a:r>
          </a:p>
          <a:p>
            <a:pPr marL="0" indent="0">
              <a:buNone/>
            </a:pPr>
            <a:r>
              <a:rPr lang="en-US" sz="2400" dirty="0"/>
              <a:t>● Dumpster diving </a:t>
            </a:r>
          </a:p>
          <a:p>
            <a:pPr marL="0" indent="0">
              <a:buNone/>
            </a:pPr>
            <a:r>
              <a:rPr lang="en-US" sz="2400" dirty="0"/>
              <a:t>● Posing as a legitimate user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6432" y="2411313"/>
            <a:ext cx="4580088" cy="3848958"/>
          </a:xfrm>
        </p:spPr>
        <p:txBody>
          <a:bodyPr>
            <a:normAutofit/>
          </a:bodyPr>
          <a:lstStyle/>
          <a:p>
            <a:r>
              <a:rPr lang="en-US" sz="2800" b="1" dirty="0"/>
              <a:t>COMPUTER BASED</a:t>
            </a:r>
          </a:p>
          <a:p>
            <a:endParaRPr lang="en-US" sz="2800" b="1" dirty="0"/>
          </a:p>
          <a:p>
            <a:r>
              <a:rPr lang="en-US" sz="2400" dirty="0"/>
              <a:t>● Pop-up windows</a:t>
            </a:r>
          </a:p>
          <a:p>
            <a:r>
              <a:rPr lang="en-US" sz="2400" dirty="0"/>
              <a:t> ● Insider attack </a:t>
            </a:r>
          </a:p>
          <a:p>
            <a:r>
              <a:rPr lang="en-US" sz="2400" dirty="0"/>
              <a:t>● Phishing </a:t>
            </a:r>
          </a:p>
          <a:p>
            <a:r>
              <a:rPr lang="en-US" sz="2400" dirty="0"/>
              <a:t>● Nigerian 419 scam </a:t>
            </a:r>
          </a:p>
          <a:p>
            <a:r>
              <a:rPr lang="en-US" sz="2400" dirty="0"/>
              <a:t>● Fake SMS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>
            <a:normAutofit/>
          </a:bodyPr>
          <a:lstStyle/>
          <a:p>
            <a:r>
              <a:rPr lang="en-US" dirty="0"/>
              <a:t>Current Events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417197"/>
            <a:ext cx="4278313" cy="37375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2019 Toyota BEC Scam </a:t>
            </a:r>
          </a:p>
          <a:p>
            <a:pPr marL="0" indent="0">
              <a:buNone/>
            </a:pPr>
            <a:r>
              <a:rPr lang="en-US" sz="2400" dirty="0"/>
              <a:t>● Attacker manipulated finance/accounting departments </a:t>
            </a:r>
          </a:p>
          <a:p>
            <a:pPr marL="0" indent="0">
              <a:buNone/>
            </a:pPr>
            <a:r>
              <a:rPr lang="en-US" sz="2400" dirty="0"/>
              <a:t>● Posed as a business partner</a:t>
            </a:r>
          </a:p>
          <a:p>
            <a:pPr marL="0" indent="0">
              <a:buNone/>
            </a:pPr>
            <a:r>
              <a:rPr lang="en-US" sz="2400" dirty="0"/>
              <a:t>● Stole $37 million dollars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ABF22EB-9448-29C6-96D9-1D9555F7465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241472" y="2417763"/>
            <a:ext cx="5078186" cy="37369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2011 RSA Phishing Scam</a:t>
            </a:r>
          </a:p>
          <a:p>
            <a:pPr marL="0" indent="0">
              <a:buNone/>
            </a:pPr>
            <a:r>
              <a:rPr lang="en-US" sz="2400" dirty="0"/>
              <a:t>● Employee clicked attachment in an email </a:t>
            </a:r>
          </a:p>
          <a:p>
            <a:pPr marL="0" indent="0">
              <a:buNone/>
            </a:pPr>
            <a:r>
              <a:rPr lang="en-US" sz="2400" dirty="0"/>
              <a:t>● Ran an exploit through Adobe Flash </a:t>
            </a:r>
          </a:p>
          <a:p>
            <a:pPr marL="0" indent="0">
              <a:buNone/>
            </a:pPr>
            <a:r>
              <a:rPr lang="en-US" sz="2400" dirty="0"/>
              <a:t>● Attacker stole sensitive information</a:t>
            </a:r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F7AD-EB71-0E7B-DA5C-991A8160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Social Engineering Attacks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0F56-BBB7-01B5-0813-EAA105C0DFE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Phishing &amp; Spear Phishing</a:t>
            </a:r>
            <a:endParaRPr lang="en-US" dirty="0"/>
          </a:p>
          <a:p>
            <a:r>
              <a:rPr lang="en-US" b="1" dirty="0"/>
              <a:t>Vishing &amp; Smishing</a:t>
            </a:r>
          </a:p>
          <a:p>
            <a:r>
              <a:rPr lang="en-US" b="1" dirty="0"/>
              <a:t>Pretexting &amp; Baiting</a:t>
            </a:r>
          </a:p>
          <a:p>
            <a:r>
              <a:rPr lang="en-US" b="1" dirty="0"/>
              <a:t>Physical Attacks</a:t>
            </a:r>
          </a:p>
          <a:p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4A6C-5466-2F99-2F77-EF47C7FF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B13721-D569-61A3-A6D9-CCF7D84C74C0}"/>
              </a:ext>
            </a:extLst>
          </p:cNvPr>
          <p:cNvSpPr txBox="1">
            <a:spLocks/>
          </p:cNvSpPr>
          <p:nvPr/>
        </p:nvSpPr>
        <p:spPr>
          <a:xfrm>
            <a:off x="4938712" y="5738353"/>
            <a:ext cx="6338888" cy="266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Presented by: Muhammad Afzal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417440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1A76-9563-1D2F-840E-AA90B1FD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 &amp; Spear Phishing</a:t>
            </a:r>
            <a:br>
              <a:rPr lang="en-US" dirty="0"/>
            </a:b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8D38708-28BC-A361-824F-4A0A2652B4B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Email-based attacks</a:t>
            </a:r>
            <a:br>
              <a:rPr lang="en-US" dirty="0"/>
            </a:br>
            <a:r>
              <a:rPr lang="en-US" dirty="0"/>
              <a:t>Fraudulent emails sent to trick users into trusting the sender</a:t>
            </a:r>
          </a:p>
          <a:p>
            <a:r>
              <a:rPr lang="en-US" b="1" dirty="0"/>
              <a:t>Fake links and login pages</a:t>
            </a:r>
            <a:br>
              <a:rPr lang="en-US" dirty="0"/>
            </a:br>
            <a:r>
              <a:rPr lang="en-US" dirty="0"/>
              <a:t>Links redirect to look-alike websites that steal usernames and passwords</a:t>
            </a:r>
          </a:p>
          <a:p>
            <a:r>
              <a:rPr lang="en-US" b="1" dirty="0"/>
              <a:t>Targeted vs General Attacks</a:t>
            </a:r>
            <a:endParaRPr lang="en-US" dirty="0"/>
          </a:p>
          <a:p>
            <a:r>
              <a:rPr lang="en-US" b="1" dirty="0"/>
              <a:t>Phishing:</a:t>
            </a:r>
            <a:r>
              <a:rPr lang="en-US" dirty="0"/>
              <a:t> Sent to many people at once</a:t>
            </a:r>
          </a:p>
          <a:p>
            <a:r>
              <a:rPr lang="en-US" b="1" dirty="0"/>
              <a:t>Spear Phishing:</a:t>
            </a:r>
            <a:r>
              <a:rPr lang="en-US" dirty="0"/>
              <a:t> Carefully targeted at a specific person or organization</a:t>
            </a:r>
          </a:p>
          <a:p>
            <a:r>
              <a:rPr lang="en-US" b="1" dirty="0"/>
              <a:t>Whaling:</a:t>
            </a:r>
            <a:r>
              <a:rPr lang="en-US" dirty="0"/>
              <a:t> Targets high-level executives with personalized messages to steal sensitive information.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16B8D-315F-1F1E-B114-DE4A6FC8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4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33533A09-6BB0-D3A0-89DF-9E84AC444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60" y="168157"/>
            <a:ext cx="10949517" cy="652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458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88AD-E651-3247-5E3D-9AA9057D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Vishing &amp; Smishing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CDB1273-E063-46DF-7C24-8F76B727A26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b="1" dirty="0"/>
              <a:t>Vishing</a:t>
            </a:r>
            <a:r>
              <a:rPr lang="en-US" dirty="0"/>
              <a:t> – Fraudulent voice calls pretending to be banks, authorities, or companies to steal personal information.</a:t>
            </a:r>
          </a:p>
          <a:p>
            <a:r>
              <a:rPr lang="en-US" b="1" dirty="0"/>
              <a:t>Smishing</a:t>
            </a:r>
            <a:r>
              <a:rPr lang="en-US" dirty="0"/>
              <a:t> – SMS messages containing malicious links or requests for sensitive data.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8A725-1CA9-7A01-EC17-714D586D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59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3D1A1-8C81-14E2-A228-00B5136D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What is Vishing: Definition, Detection and Protection - Keepnet">
            <a:extLst>
              <a:ext uri="{FF2B5EF4-FFF2-40B4-BE49-F238E27FC236}">
                <a16:creationId xmlns:a16="http://schemas.microsoft.com/office/drawing/2014/main" id="{55ABECF0-BFF0-1415-6027-EA5153986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92" y="127718"/>
            <a:ext cx="10566138" cy="660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828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0438-0378-78A5-90E7-25FD5780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Pretexting &amp; Baiting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4F800FD-9BCF-A5A3-2939-250A3B37843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b="1" dirty="0"/>
              <a:t>Pretexting</a:t>
            </a:r>
            <a:br>
              <a:rPr lang="en-US" dirty="0"/>
            </a:br>
            <a:r>
              <a:rPr lang="en-US" dirty="0"/>
              <a:t>Creating fake stories or scenarios to gain the victim’s trust and extract information</a:t>
            </a:r>
          </a:p>
          <a:p>
            <a:r>
              <a:rPr lang="en-US" b="1" dirty="0"/>
              <a:t>Baiting</a:t>
            </a:r>
            <a:br>
              <a:rPr lang="en-US" dirty="0"/>
            </a:br>
            <a:r>
              <a:rPr lang="en-US" dirty="0"/>
              <a:t>Luring victims with fake rewards, free downloads, or infected USB devices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7F59F-852B-6C3F-5DC8-EEA3C187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90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7D79-4AB6-502E-6262-51C86F58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786835-4DED-7418-4CE0-42999CACF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06" y="374243"/>
            <a:ext cx="11437187" cy="610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0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0CD9-099E-71D1-3BE7-FFE6A23D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Attacks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4CD5A99-A21E-BF77-D133-A28D4B12790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b="1" dirty="0"/>
              <a:t>Tailgating</a:t>
            </a:r>
            <a:br>
              <a:rPr lang="en-US" dirty="0"/>
            </a:br>
            <a:r>
              <a:rPr lang="en-US" dirty="0"/>
              <a:t>Unauthorized person follows an employee into a restricted area</a:t>
            </a:r>
          </a:p>
          <a:p>
            <a:r>
              <a:rPr lang="en-US" b="1" dirty="0"/>
              <a:t>Impersonation inside offices</a:t>
            </a:r>
            <a:br>
              <a:rPr lang="en-US" dirty="0"/>
            </a:br>
            <a:r>
              <a:rPr lang="en-US" dirty="0"/>
              <a:t>Attacker pretends to be staff, technician, or visitor to gain access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E812F-CEC9-6649-5A2F-94DB60E5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5CFF-5246-794E-E021-448D406DC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What is a Tailgating Attack: Targets and Prevention Tips - Keepnet">
            <a:extLst>
              <a:ext uri="{FF2B5EF4-FFF2-40B4-BE49-F238E27FC236}">
                <a16:creationId xmlns:a16="http://schemas.microsoft.com/office/drawing/2014/main" id="{7205B39D-1178-AC2D-E854-FD9DB970C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13235"/>
            <a:ext cx="11753494" cy="649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237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C044A-F045-9ABA-30A7-009A47C7B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personation Attacks: Real Examples and How to Detect Them">
            <a:extLst>
              <a:ext uri="{FF2B5EF4-FFF2-40B4-BE49-F238E27FC236}">
                <a16:creationId xmlns:a16="http://schemas.microsoft.com/office/drawing/2014/main" id="{365BBFA0-DE8C-F33F-BB48-CEA164051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1" y="245533"/>
            <a:ext cx="9550400" cy="636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D67D10F1-4EFA-1ECE-05A8-7C8631803D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1394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D193-E36F-FDDC-D74F-4DBF876DA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>
            <a:extLst>
              <a:ext uri="{FF2B5EF4-FFF2-40B4-BE49-F238E27FC236}">
                <a16:creationId xmlns:a16="http://schemas.microsoft.com/office/drawing/2014/main" id="{8DA78CD2-FA5F-0FE0-667D-058DFEB893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95859F-70DB-3662-CF80-0496C98394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35" b="3579"/>
          <a:stretch>
            <a:fillRect/>
          </a:stretch>
        </p:blipFill>
        <p:spPr>
          <a:xfrm>
            <a:off x="1938861" y="0"/>
            <a:ext cx="8009478" cy="677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3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E2C3-632B-D5FC-6FF1-1925D6FD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>
            <a:extLst>
              <a:ext uri="{FF2B5EF4-FFF2-40B4-BE49-F238E27FC236}">
                <a16:creationId xmlns:a16="http://schemas.microsoft.com/office/drawing/2014/main" id="{FA4B5680-0A54-15D3-595C-F67A5E974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26" name="Picture 2" descr="What is Social Engineering? | Blog | Humanize">
            <a:extLst>
              <a:ext uri="{FF2B5EF4-FFF2-40B4-BE49-F238E27FC236}">
                <a16:creationId xmlns:a16="http://schemas.microsoft.com/office/drawing/2014/main" id="{94022BFD-5A54-8A06-504D-9AF6FD930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72" y="299041"/>
            <a:ext cx="11139055" cy="625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856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BF8F-8873-E7D0-DA9E-E905EAB5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C812-A91D-7239-8B86-0EF141A3B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D66CD-692B-8CE3-3299-2783F88E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D3BFD1-D60B-A223-EB4A-E30CCFC648CF}"/>
              </a:ext>
            </a:extLst>
          </p:cNvPr>
          <p:cNvSpPr txBox="1">
            <a:spLocks/>
          </p:cNvSpPr>
          <p:nvPr/>
        </p:nvSpPr>
        <p:spPr>
          <a:xfrm>
            <a:off x="4938712" y="5738353"/>
            <a:ext cx="6338888" cy="266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Presented by: Abdul Haseeb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33308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2AEE8-D45F-2642-2B69-CF4A8CCC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>
            <a:extLst>
              <a:ext uri="{FF2B5EF4-FFF2-40B4-BE49-F238E27FC236}">
                <a16:creationId xmlns:a16="http://schemas.microsoft.com/office/drawing/2014/main" id="{E2518532-A1B6-1A5B-D5BF-2C5B5E136E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141D64-3F0F-3D64-9FF8-3370B9579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48" y="479502"/>
            <a:ext cx="10622157" cy="597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660A-1C8F-2823-3F0E-8BBADC51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>
            <a:extLst>
              <a:ext uri="{FF2B5EF4-FFF2-40B4-BE49-F238E27FC236}">
                <a16:creationId xmlns:a16="http://schemas.microsoft.com/office/drawing/2014/main" id="{0F846541-2CB1-1F3E-7281-3473CB1D9A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1EC6E-0387-C169-52BF-B506990C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14" y="377952"/>
            <a:ext cx="10724631" cy="60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82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26DD-7F8F-F7A8-4A67-29F30CE0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>
            <a:extLst>
              <a:ext uri="{FF2B5EF4-FFF2-40B4-BE49-F238E27FC236}">
                <a16:creationId xmlns:a16="http://schemas.microsoft.com/office/drawing/2014/main" id="{F8AB2272-9841-8FFB-D6FF-271475E50D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E9D1B-C9E1-C8F7-2091-46A22A98D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37" y="512064"/>
            <a:ext cx="10533888" cy="592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67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C4EF-8AFA-B8D7-72B4-D29D8798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4CDC-D824-E157-D77D-47949B85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Case Studies &amp; Impact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4EBE-71A9-1143-D629-E70CCECEF4A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Famous Social Engineering Attacks</a:t>
            </a:r>
          </a:p>
          <a:p>
            <a:r>
              <a:rPr lang="en-US" b="1" dirty="0"/>
              <a:t>Individual Impact</a:t>
            </a:r>
          </a:p>
          <a:p>
            <a:r>
              <a:rPr lang="en-US" b="1" dirty="0"/>
              <a:t>Organizational Impact</a:t>
            </a:r>
          </a:p>
          <a:p>
            <a:r>
              <a:rPr lang="en-US" b="1" dirty="0"/>
              <a:t>Why Attacks Succeed</a:t>
            </a:r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E927F-BF54-4EAF-778D-76CB6435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73AD9D-D4DF-A491-15A3-96A1A6BD575C}"/>
              </a:ext>
            </a:extLst>
          </p:cNvPr>
          <p:cNvSpPr txBox="1">
            <a:spLocks/>
          </p:cNvSpPr>
          <p:nvPr/>
        </p:nvSpPr>
        <p:spPr>
          <a:xfrm>
            <a:off x="4938712" y="5738353"/>
            <a:ext cx="6338888" cy="266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Presented by: Muhammad Usman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727926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2A8C-AE3B-FEED-C6FD-9A2A5DA8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famous Social Engineering Attacks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CA445EC-F2FD-6D5C-4E21-D1EB94D952B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b="1" dirty="0"/>
              <a:t>Google &amp; Facebook Phishing Scam (2010)</a:t>
            </a:r>
            <a:endParaRPr lang="en-US" sz="2400" b="1" dirty="0"/>
          </a:p>
          <a:p>
            <a:r>
              <a:rPr lang="en-US" sz="2400" dirty="0"/>
              <a:t>In 2010, attackers targeted employees of Google and Facebook using phishing emails.</a:t>
            </a:r>
          </a:p>
          <a:p>
            <a:r>
              <a:rPr lang="en-US" sz="2400" dirty="0"/>
              <a:t>The emails pretended to be from trusted sources and tricked employees into revealing login credentials.</a:t>
            </a:r>
          </a:p>
          <a:p>
            <a:r>
              <a:rPr lang="en-US" sz="2400" dirty="0"/>
              <a:t>Using these credentials, attackers accessed company accounts and attempted financial fraud, including transferring money or stealing sensitive data.</a:t>
            </a:r>
          </a:p>
          <a:p>
            <a:r>
              <a:rPr lang="en-US" sz="2400" dirty="0"/>
              <a:t>The scam affected 100+ employees and caused losses of over</a:t>
            </a:r>
            <a:r>
              <a:rPr lang="en-US" sz="2600" dirty="0"/>
              <a:t> </a:t>
            </a:r>
            <a:r>
              <a:rPr lang="en-US" sz="2200" dirty="0"/>
              <a:t>$100M+.</a:t>
            </a:r>
          </a:p>
          <a:p>
            <a:r>
              <a:rPr lang="en-US" sz="2400" dirty="0"/>
              <a:t>This case is an example of how social engineering can bypass technical security by exploiting human trust.</a:t>
            </a:r>
            <a:endParaRPr lang="en-PK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124F9-F656-FE03-7494-D26E7C52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38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420B-AF51-C949-F0D6-2D20F3342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586F1-C433-7702-99CB-871BBCF5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Twitter Account Hijacking (2020)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0D7ECC2-0838-4007-6077-FAB99AD5210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30 high-profile accounts hacked</a:t>
            </a:r>
            <a:r>
              <a:rPr lang="en-US" sz="2400" dirty="0"/>
              <a:t> – including Elon Musk, Bill Gates, and major companies.</a:t>
            </a:r>
          </a:p>
          <a:p>
            <a:r>
              <a:rPr lang="en-US" sz="2400" b="1" dirty="0"/>
              <a:t>$120,000 stolen</a:t>
            </a:r>
            <a:r>
              <a:rPr lang="en-US" sz="2400" dirty="0"/>
              <a:t> – attackers posted cryptocurrency scam messages asking followers to send Bitcoin.</a:t>
            </a:r>
          </a:p>
          <a:p>
            <a:r>
              <a:rPr lang="en-US" sz="2400" b="1" dirty="0"/>
              <a:t>How it happened</a:t>
            </a:r>
            <a:r>
              <a:rPr lang="en-US" sz="2400" dirty="0"/>
              <a:t> – attackers used </a:t>
            </a:r>
            <a:r>
              <a:rPr lang="en-US" sz="2400" b="1" dirty="0"/>
              <a:t>social engineering on Twitter employees</a:t>
            </a:r>
            <a:r>
              <a:rPr lang="en-US" sz="2400" dirty="0"/>
              <a:t>, gaining internal access to bypass security controls.</a:t>
            </a:r>
          </a:p>
          <a:p>
            <a:r>
              <a:rPr lang="en-US" sz="2400" b="1" dirty="0"/>
              <a:t>Impact</a:t>
            </a:r>
            <a:r>
              <a:rPr lang="en-US" sz="2400" dirty="0"/>
              <a:t> – Highlighted how </a:t>
            </a:r>
            <a:r>
              <a:rPr lang="en-US" sz="2400" b="1" dirty="0"/>
              <a:t>even major tech companies are vulnerable</a:t>
            </a:r>
            <a:r>
              <a:rPr lang="en-US" sz="2400" dirty="0"/>
              <a:t> when human trust is exploited.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4519D-243F-CAFF-2712-53E20917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92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D5AE-AF59-E132-855C-92254B5E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9E8C-F4C8-CD23-AA98-CECA284A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Individuals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DE1F26E-9304-BCC6-A5D5-265468773BE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b="1" dirty="0"/>
              <a:t>Identity Theft</a:t>
            </a:r>
            <a:r>
              <a:rPr lang="en-US" sz="2400" dirty="0"/>
              <a:t> – Personal information is stolen and misused</a:t>
            </a:r>
          </a:p>
          <a:p>
            <a:r>
              <a:rPr lang="en-US" sz="2400" b="1" dirty="0"/>
              <a:t>Financial Loss</a:t>
            </a:r>
            <a:r>
              <a:rPr lang="en-US" sz="2400" dirty="0"/>
              <a:t> – Money lost through fraud or unauthorized transactions</a:t>
            </a:r>
          </a:p>
          <a:p>
            <a:r>
              <a:rPr lang="en-US" sz="2400" b="1" dirty="0"/>
              <a:t>Privacy Breach</a:t>
            </a:r>
            <a:r>
              <a:rPr lang="en-US" sz="2400" dirty="0"/>
              <a:t> – Sensitive data exposed without consent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A person receives an email claiming to be from their bank asking to “verify account details.” They enter their username and password on a fake website. The attacker then:</a:t>
            </a:r>
          </a:p>
          <a:p>
            <a:r>
              <a:rPr lang="en-US" sz="2400" b="1" dirty="0"/>
              <a:t>Steals their identity</a:t>
            </a:r>
            <a:r>
              <a:rPr lang="en-US" sz="2400" dirty="0"/>
              <a:t> (personal info like CNIC, phone number)</a:t>
            </a:r>
          </a:p>
          <a:p>
            <a:r>
              <a:rPr lang="en-US" sz="2400" b="1" dirty="0"/>
              <a:t>Transfers money</a:t>
            </a:r>
            <a:r>
              <a:rPr lang="en-US" sz="2400" dirty="0"/>
              <a:t> from their bank account (</a:t>
            </a:r>
            <a:r>
              <a:rPr lang="en-US" sz="2400" b="1" dirty="0"/>
              <a:t>financial loss</a:t>
            </a:r>
            <a:r>
              <a:rPr lang="en-US" sz="2400" dirty="0"/>
              <a:t>)</a:t>
            </a:r>
          </a:p>
          <a:p>
            <a:r>
              <a:rPr lang="en-US" sz="2400" b="1" dirty="0"/>
              <a:t>Accesses private emails and files</a:t>
            </a:r>
            <a:r>
              <a:rPr lang="en-US" sz="2400" dirty="0"/>
              <a:t> (</a:t>
            </a:r>
            <a:r>
              <a:rPr lang="en-US" sz="2400" b="1" dirty="0"/>
              <a:t>privacy breach</a:t>
            </a:r>
            <a:r>
              <a:rPr lang="en-US" sz="2400" dirty="0"/>
              <a:t>)</a:t>
            </a:r>
          </a:p>
          <a:p>
            <a:endParaRPr lang="en-PK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212BB-1585-726E-984D-DB2B8329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59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7D40D-428A-8718-BD22-E35E35CF6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75DC-148C-CFDD-BC22-51BBB68A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Impact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2746302-F814-4583-8D68-4EDC486BD50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b="1" dirty="0"/>
              <a:t>Data Leaks</a:t>
            </a:r>
            <a:r>
              <a:rPr lang="en-US" sz="2400" dirty="0"/>
              <a:t> – Sensitive customer or company data can be stolen, exposing private information.</a:t>
            </a:r>
          </a:p>
          <a:p>
            <a:r>
              <a:rPr lang="en-US" sz="2400" dirty="0"/>
              <a:t>In 2013, </a:t>
            </a:r>
            <a:r>
              <a:rPr lang="en-US" sz="2400" b="1" dirty="0"/>
              <a:t>Target</a:t>
            </a:r>
            <a:r>
              <a:rPr lang="en-US" sz="2400" dirty="0"/>
              <a:t> suffered a data breach exposing </a:t>
            </a:r>
            <a:r>
              <a:rPr lang="en-US" sz="2400" b="1" dirty="0"/>
              <a:t>110 million customers’</a:t>
            </a:r>
            <a:r>
              <a:rPr lang="en-US" sz="2400" dirty="0"/>
              <a:t> personal and credit card information.</a:t>
            </a:r>
          </a:p>
          <a:p>
            <a:r>
              <a:rPr lang="en-US" sz="2400" b="1" dirty="0"/>
              <a:t>Reputation Damage</a:t>
            </a:r>
            <a:r>
              <a:rPr lang="en-US" sz="2400" dirty="0"/>
              <a:t> – Trust in the company decreases, affecting clients, partners, and investors.</a:t>
            </a:r>
          </a:p>
          <a:p>
            <a:r>
              <a:rPr lang="en-US" sz="2400" dirty="0"/>
              <a:t>After the </a:t>
            </a:r>
            <a:r>
              <a:rPr lang="en-US" sz="2400" b="1" dirty="0"/>
              <a:t>Equifax breach (2017)</a:t>
            </a:r>
            <a:r>
              <a:rPr lang="en-US" sz="2400" dirty="0"/>
              <a:t>, the company’s stock dropped </a:t>
            </a:r>
            <a:r>
              <a:rPr lang="en-US" sz="2400" b="1" dirty="0"/>
              <a:t>~35%</a:t>
            </a:r>
            <a:r>
              <a:rPr lang="en-US" sz="2400" dirty="0"/>
              <a:t> and public trust plummeted.</a:t>
            </a:r>
          </a:p>
          <a:p>
            <a:r>
              <a:rPr lang="en-US" sz="2400" b="1" dirty="0"/>
              <a:t>Legal Consequences</a:t>
            </a:r>
            <a:r>
              <a:rPr lang="en-US" sz="2400" dirty="0"/>
              <a:t> – Organizations may face fines or lawsuits for failing to protect data.</a:t>
            </a:r>
          </a:p>
          <a:p>
            <a:r>
              <a:rPr lang="en-US" sz="2400" dirty="0"/>
              <a:t>Companies like </a:t>
            </a:r>
            <a:r>
              <a:rPr lang="en-US" sz="2400" b="1" dirty="0"/>
              <a:t>Yahoo</a:t>
            </a:r>
            <a:r>
              <a:rPr lang="en-US" sz="2400" dirty="0"/>
              <a:t> faced fines of </a:t>
            </a:r>
            <a:r>
              <a:rPr lang="en-US" sz="2400" b="1" dirty="0"/>
              <a:t>$35 million</a:t>
            </a:r>
            <a:r>
              <a:rPr lang="en-US" sz="2400" dirty="0"/>
              <a:t> due to inadequate protection of user data.</a:t>
            </a:r>
          </a:p>
          <a:p>
            <a:endParaRPr lang="en-PK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CECBB-3B25-8F45-ABA0-87ABDA8F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76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4EB3-5E58-FFA9-33B7-B8329FA0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CD0D5-C170-6A59-270B-D15AE2C7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Attacks Succeed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C580EC56-3084-BD4D-5892-F4FB530C3EE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/>
              <a:t>Lack of Awareness</a:t>
            </a:r>
            <a:r>
              <a:rPr lang="en-US" sz="2400" dirty="0"/>
              <a:t> – Many people don’t recognize phishing emails or suspicious requests.</a:t>
            </a:r>
          </a:p>
          <a:p>
            <a:r>
              <a:rPr lang="en-US" sz="2400" b="1" dirty="0"/>
              <a:t>Trust in Authority</a:t>
            </a:r>
            <a:r>
              <a:rPr lang="en-US" sz="2400" dirty="0"/>
              <a:t> – Attackers exploit respect for bosses, IT staff, or official organizations.</a:t>
            </a:r>
          </a:p>
          <a:p>
            <a:r>
              <a:rPr lang="en-US" sz="2400" b="1" dirty="0"/>
              <a:t>Reputation Damage</a:t>
            </a:r>
            <a:r>
              <a:rPr lang="en-US" sz="2400" dirty="0"/>
              <a:t> – Trust in the company decreases, affecting clients, partners, and investors. </a:t>
            </a:r>
            <a:r>
              <a:rPr lang="en-US" sz="2400" b="1" dirty="0"/>
              <a:t>Poor Security Practices</a:t>
            </a:r>
            <a:r>
              <a:rPr lang="en-US" sz="2400" dirty="0"/>
              <a:t> – Weak passwords, shared credentials, or unverified links make attacks easier.</a:t>
            </a:r>
          </a:p>
          <a:p>
            <a:r>
              <a:rPr lang="en-US" sz="2400" dirty="0"/>
              <a:t>91% of breaches start with phishing (Verizon DBIR 2021).</a:t>
            </a:r>
          </a:p>
          <a:p>
            <a:r>
              <a:rPr lang="en-US" sz="2400" dirty="0"/>
              <a:t>95% of cybersecurity incidents involve human error (IBM 2020).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249FD-FDDA-92E4-5C1A-09DA69F6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47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9178-5072-35CF-56A7-1C444D4F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4804-99A8-7C31-279C-0064FE0B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Prevention, Detection &amp; Conclusion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AF1C6-632D-8CFA-0AB6-BC6230BCBD6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to Identify Social Engineering</a:t>
            </a:r>
          </a:p>
          <a:p>
            <a:r>
              <a:rPr lang="en-US" b="1" dirty="0"/>
              <a:t>Prevention Techniques</a:t>
            </a:r>
          </a:p>
          <a:p>
            <a:r>
              <a:rPr lang="en-US" b="1" dirty="0"/>
              <a:t>Organizational Security Measures</a:t>
            </a:r>
          </a:p>
          <a:p>
            <a:r>
              <a:rPr lang="en-US" b="1" dirty="0"/>
              <a:t>Conclusion &amp; Key Takeaways</a:t>
            </a:r>
            <a:endParaRPr lang="en-P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FF97B-5638-9B7A-2F55-AB18DB2A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3CCDC2-E1A8-E590-D32E-0F5FADC7D8AE}"/>
              </a:ext>
            </a:extLst>
          </p:cNvPr>
          <p:cNvSpPr txBox="1">
            <a:spLocks/>
          </p:cNvSpPr>
          <p:nvPr/>
        </p:nvSpPr>
        <p:spPr>
          <a:xfrm>
            <a:off x="4938712" y="5738353"/>
            <a:ext cx="6338888" cy="266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Presented by: Faisal Ali 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4244729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6479-BCCD-E3D9-D45A-7AA313CF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4982-C45C-B45C-7D74-9D67398D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Social Engineering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36E5C46-BB70-6D1D-24E7-FD09AD6E025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Suspicious Links</a:t>
            </a:r>
            <a:r>
              <a:rPr lang="en-US" sz="2400" dirty="0"/>
              <a:t> – Hover over links to check URLs; avoid clicking unknown or shortened links.</a:t>
            </a:r>
          </a:p>
          <a:p>
            <a:r>
              <a:rPr lang="en-US" sz="2400" b="1" dirty="0"/>
              <a:t>Urgent Messages</a:t>
            </a:r>
            <a:r>
              <a:rPr lang="en-US" sz="2400" dirty="0"/>
              <a:t> – Be cautious of messages creating panic or pressure to act immediately.</a:t>
            </a:r>
          </a:p>
          <a:p>
            <a:r>
              <a:rPr lang="en-US" sz="2400" b="1" dirty="0"/>
              <a:t>Unknown Senders</a:t>
            </a:r>
            <a:r>
              <a:rPr lang="en-US" sz="2400" dirty="0"/>
              <a:t> – Verify emails or calls from unfamiliar contacts before sharing information.</a:t>
            </a:r>
          </a:p>
          <a:p>
            <a:r>
              <a:rPr lang="en-US" sz="2400" dirty="0"/>
              <a:t>90% of attacks show clear warning signs like suspicious links or urgent requests (Proofpoint 2022).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DD535-1C78-01DC-0EA7-59055DD8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13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8AD3-3737-B00C-41F4-7839D617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9B9C-0873-9823-6A86-FFE1B927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Techniques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84DD48D-E79A-9839-666A-5CC1FD7DAD5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Strong Passwords</a:t>
            </a:r>
            <a:r>
              <a:rPr lang="en-US" sz="2400" dirty="0"/>
              <a:t> – Using complex passwords reduces account compromise risk by </a:t>
            </a:r>
            <a:r>
              <a:rPr lang="en-US" sz="2400" b="1" dirty="0"/>
              <a:t>80–90%</a:t>
            </a:r>
            <a:r>
              <a:rPr lang="en-US" sz="2400" dirty="0"/>
              <a:t>.</a:t>
            </a:r>
            <a:r>
              <a:rPr lang="en-US" sz="2400" b="1" dirty="0"/>
              <a:t> </a:t>
            </a:r>
          </a:p>
          <a:p>
            <a:r>
              <a:rPr lang="en-US" sz="2400" b="1" dirty="0"/>
              <a:t>Two-Factor Authentication (2FA)</a:t>
            </a:r>
            <a:r>
              <a:rPr lang="en-US" sz="2400" dirty="0"/>
              <a:t> – Protects accounts; reduces phishing success by </a:t>
            </a:r>
            <a:r>
              <a:rPr lang="en-US" sz="2400" b="1" dirty="0"/>
              <a:t>99.9%</a:t>
            </a:r>
            <a:r>
              <a:rPr lang="en-US" sz="2400" dirty="0"/>
              <a:t> (Microsoft 2019)</a:t>
            </a:r>
            <a:r>
              <a:rPr lang="en-US" sz="2400" b="1" dirty="0"/>
              <a:t> </a:t>
            </a:r>
          </a:p>
          <a:p>
            <a:r>
              <a:rPr lang="en-US" sz="2400" b="1" dirty="0"/>
              <a:t>Security Awareness Training</a:t>
            </a:r>
            <a:r>
              <a:rPr lang="en-US" sz="2400" dirty="0"/>
              <a:t> – Employees trained on phishing are </a:t>
            </a:r>
            <a:r>
              <a:rPr lang="en-US" sz="2400" b="1" dirty="0"/>
              <a:t>70% less likely</a:t>
            </a:r>
            <a:r>
              <a:rPr lang="en-US" sz="2400" dirty="0"/>
              <a:t> to fall for scams (KnowBe4 2021).</a:t>
            </a:r>
          </a:p>
          <a:p>
            <a:r>
              <a:rPr lang="en-US" sz="2400" b="1" dirty="0"/>
              <a:t> Regular Software Updates</a:t>
            </a:r>
            <a:r>
              <a:rPr lang="en-US" sz="2400" dirty="0"/>
              <a:t> – Prevent attackers from exploiting vulnerabilities; 60% of breaches exploit unpatched software.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43059-4E97-E9F8-8E53-AD821B21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090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1C78-1BA8-F1AA-08EA-45B9FA6B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F27F-F154-0F02-43EE-2C06CF89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Security Measures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045478-A736-0D79-D72B-7CF14B6DC4B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Email Filtering</a:t>
            </a:r>
            <a:r>
              <a:rPr lang="en-US" sz="2400" dirty="0"/>
              <a:t> – Blocks over </a:t>
            </a:r>
            <a:r>
              <a:rPr lang="en-US" sz="2400" b="1" dirty="0"/>
              <a:t>80% of phishing emails</a:t>
            </a:r>
            <a:r>
              <a:rPr lang="en-US" sz="2400" dirty="0"/>
              <a:t> before reaching employees (Mimecast 2022).</a:t>
            </a:r>
          </a:p>
          <a:p>
            <a:r>
              <a:rPr lang="en-US" sz="2400" b="1" dirty="0"/>
              <a:t>Security Policies</a:t>
            </a:r>
            <a:r>
              <a:rPr lang="en-US" sz="2400" dirty="0"/>
              <a:t> – Companies with strict policies experience </a:t>
            </a:r>
            <a:r>
              <a:rPr lang="en-US" sz="2400" b="1" dirty="0"/>
              <a:t>50% fewer successful attacks</a:t>
            </a:r>
            <a:r>
              <a:rPr lang="en-US" sz="2400" dirty="0"/>
              <a:t> (ISACA 2021).</a:t>
            </a:r>
          </a:p>
          <a:p>
            <a:r>
              <a:rPr lang="en-US" sz="2400" b="1" dirty="0"/>
              <a:t>Regular Audits</a:t>
            </a:r>
            <a:r>
              <a:rPr lang="en-US" sz="2400" dirty="0"/>
              <a:t> – Detect </a:t>
            </a:r>
            <a:r>
              <a:rPr lang="en-US" sz="2400" b="1" dirty="0"/>
              <a:t>40–50% of potential breaches</a:t>
            </a:r>
            <a:r>
              <a:rPr lang="en-US" sz="2400" dirty="0"/>
              <a:t> early, preventing major data loss.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9D8A6-F784-1232-4086-3A54FA77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58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9EEC4-6615-1597-8339-F5295DD4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0C97-4982-A5D8-97B5-3465C0BE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Key Takeaways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B74AD91-2AF2-3B7D-76C6-D87C5C0126B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Humans are the weakest link</a:t>
            </a:r>
            <a:r>
              <a:rPr lang="en-US" sz="2400" dirty="0"/>
              <a:t> – 91% of cyberattacks start with social engineering (Verizon 2021).</a:t>
            </a:r>
          </a:p>
          <a:p>
            <a:r>
              <a:rPr lang="en-US" sz="2400" b="1" dirty="0"/>
              <a:t>Awareness is the best defense</a:t>
            </a:r>
            <a:r>
              <a:rPr lang="en-US" sz="2400" dirty="0"/>
              <a:t> – Security training reduces phishing susceptibility by </a:t>
            </a:r>
            <a:r>
              <a:rPr lang="en-US" sz="2400" b="1" dirty="0"/>
              <a:t>70%</a:t>
            </a:r>
            <a:r>
              <a:rPr lang="en-US" sz="2400" dirty="0"/>
              <a:t> (KnowBe4 2021).</a:t>
            </a:r>
          </a:p>
          <a:p>
            <a:r>
              <a:rPr lang="en-US" sz="2400" b="1" dirty="0"/>
              <a:t>Think before you click</a:t>
            </a:r>
            <a:r>
              <a:rPr lang="en-US" sz="2400" dirty="0"/>
              <a:t> – Over </a:t>
            </a:r>
            <a:r>
              <a:rPr lang="en-US" sz="2400" b="1" dirty="0"/>
              <a:t>3.4 million phishing emails</a:t>
            </a:r>
            <a:r>
              <a:rPr lang="en-US" sz="2400" dirty="0"/>
              <a:t> are sent daily; caution prevents costly breaches.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35980-7548-69E5-10E5-85EA39BF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953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{EE6E10FA-9148-41CC-B4E2-9BCA59DB0B0B}TF55c86556-70ea-476e-aa05-13a38f2d5b0da1381d77_win32-a3c664429073</Template>
  <TotalTime>1290</TotalTime>
  <Words>1252</Words>
  <Application>Microsoft Office PowerPoint</Application>
  <PresentationFormat>Widescreen</PresentationFormat>
  <Paragraphs>169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Avenir Next LT Pro</vt:lpstr>
      <vt:lpstr>Calibri</vt:lpstr>
      <vt:lpstr>Courier New</vt:lpstr>
      <vt:lpstr>Wingdings</vt:lpstr>
      <vt:lpstr>Custom</vt:lpstr>
      <vt:lpstr>What is Social Engineering?</vt:lpstr>
      <vt:lpstr>What is social engineering?</vt:lpstr>
      <vt:lpstr>Social engineering attack?</vt:lpstr>
      <vt:lpstr>SOCIAL ENGINEERING</vt:lpstr>
      <vt:lpstr>Phases of attack</vt:lpstr>
      <vt:lpstr>Phases</vt:lpstr>
      <vt:lpstr>Types of attack</vt:lpstr>
      <vt:lpstr>Current Events</vt:lpstr>
      <vt:lpstr>Types of Social Engineering Attacks </vt:lpstr>
      <vt:lpstr>Phishing &amp; Spear Phishing </vt:lpstr>
      <vt:lpstr>PowerPoint Presentation</vt:lpstr>
      <vt:lpstr>Vishing &amp; Smishing</vt:lpstr>
      <vt:lpstr>PowerPoint Presentation</vt:lpstr>
      <vt:lpstr>Pretexting &amp; Baiting</vt:lpstr>
      <vt:lpstr>PowerPoint Presentation</vt:lpstr>
      <vt:lpstr>Physical Attacks</vt:lpstr>
      <vt:lpstr>PowerPoint Presentation</vt:lpstr>
      <vt:lpstr>PowerPoint Presentation</vt:lpstr>
      <vt:lpstr>PowerPoint Presentation</vt:lpstr>
      <vt:lpstr>PowerPoint Presentation</vt:lpstr>
      <vt:lpstr>Phishing</vt:lpstr>
      <vt:lpstr>PowerPoint Presentation</vt:lpstr>
      <vt:lpstr>PowerPoint Presentation</vt:lpstr>
      <vt:lpstr>PowerPoint Presentation</vt:lpstr>
      <vt:lpstr>Real World Case Studies &amp; Impact</vt:lpstr>
      <vt:lpstr>famous Social Engineering Attacks</vt:lpstr>
      <vt:lpstr>Twitter Account Hijacking (2020)</vt:lpstr>
      <vt:lpstr>Impact on Individuals</vt:lpstr>
      <vt:lpstr>Organizational Impact</vt:lpstr>
      <vt:lpstr>Why Attacks Succeed</vt:lpstr>
      <vt:lpstr>Prevention, Detection &amp; Conclusion </vt:lpstr>
      <vt:lpstr>How to Identify Social Engineering</vt:lpstr>
      <vt:lpstr>Prevention Techniques</vt:lpstr>
      <vt:lpstr>Organizational Security Measures</vt:lpstr>
      <vt:lpstr>Conclusion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 AHMED</dc:creator>
  <cp:lastModifiedBy>Abdul Haseeb</cp:lastModifiedBy>
  <cp:revision>7</cp:revision>
  <dcterms:created xsi:type="dcterms:W3CDTF">2026-01-18T06:27:49Z</dcterms:created>
  <dcterms:modified xsi:type="dcterms:W3CDTF">2026-10-14T17:27:34Z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